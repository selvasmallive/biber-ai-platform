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fe468e04e344b1" /><Relationship Type="http://schemas.openxmlformats.org/officeDocument/2006/relationships/extended-properties" Target="/docProps/app.xml" Id="Rd66c43b7e3404dfc" /><Relationship Type="http://schemas.openxmlformats.org/officeDocument/2006/relationships/officeDocument" Target="/ppt/presentation.xml" Id="Re9b6d1f51a4643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db4869509d4210"/>
  </p:sldMasterIdLst>
  <p:notesMasterIdLst>
    <p:notesMasterId xmlns:r="http://schemas.openxmlformats.org/officeDocument/2006/relationships" r:id="R5561dbf8b34a4a81"/>
  </p:notesMasterIdLst>
  <p:sldIdLst>
    <p:sldId xmlns:r="http://schemas.openxmlformats.org/officeDocument/2006/relationships" id="256" r:id="R096852966af145b2"/>
    <p:sldId xmlns:r="http://schemas.openxmlformats.org/officeDocument/2006/relationships" id="257" r:id="Rc83ed47fd32a4dc8"/>
    <p:sldId xmlns:r="http://schemas.openxmlformats.org/officeDocument/2006/relationships" id="258" r:id="R0bb278996bc34161"/>
    <p:sldId xmlns:r="http://schemas.openxmlformats.org/officeDocument/2006/relationships" id="259" r:id="R3796a494a0664b98"/>
    <p:sldId xmlns:r="http://schemas.openxmlformats.org/officeDocument/2006/relationships" id="260" r:id="R30fb8e4abb134d26"/>
    <p:sldId xmlns:r="http://schemas.openxmlformats.org/officeDocument/2006/relationships" id="261" r:id="Rf7bb835bd19042c2"/>
    <p:sldId xmlns:r="http://schemas.openxmlformats.org/officeDocument/2006/relationships" id="262" r:id="Rb18e301a4a7b455c"/>
    <p:sldId xmlns:r="http://schemas.openxmlformats.org/officeDocument/2006/relationships" id="263" r:id="R4f7330f06e6742b8"/>
    <p:sldId xmlns:r="http://schemas.openxmlformats.org/officeDocument/2006/relationships" id="264" r:id="R6b2c88bdda364e65"/>
    <p:sldId xmlns:r="http://schemas.openxmlformats.org/officeDocument/2006/relationships" id="265" r:id="Rc04412932f6144e6"/>
    <p:sldId xmlns:r="http://schemas.openxmlformats.org/officeDocument/2006/relationships" id="266" r:id="R560151ae57f44abf"/>
    <p:sldId xmlns:r="http://schemas.openxmlformats.org/officeDocument/2006/relationships" id="267" r:id="Rbbd7a7c5b4ba4a08"/>
    <p:sldId xmlns:r="http://schemas.openxmlformats.org/officeDocument/2006/relationships" id="268" r:id="R6beec44109af4d43"/>
    <p:sldId xmlns:r="http://schemas.openxmlformats.org/officeDocument/2006/relationships" id="269" r:id="Rdaf031e163694297"/>
    <p:sldId xmlns:r="http://schemas.openxmlformats.org/officeDocument/2006/relationships" id="270" r:id="R9cc66e1aada741b6"/>
    <p:sldId xmlns:r="http://schemas.openxmlformats.org/officeDocument/2006/relationships" id="271" r:id="R96dfe4652bd841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1ae009f7a4566" /><Relationship Type="http://schemas.openxmlformats.org/officeDocument/2006/relationships/slideMaster" Target="/ppt/slideMasters/slideMaster1.xml" Id="Racdb4869509d4210" /><Relationship Type="http://schemas.openxmlformats.org/officeDocument/2006/relationships/notesMaster" Target="/ppt/notesMasters/notesMaster1.xml" Id="R5561dbf8b34a4a81" /><Relationship Type="http://schemas.openxmlformats.org/officeDocument/2006/relationships/presProps" Target="/ppt/presProps.xml" Id="Re8df1172feb44ea7" /><Relationship Type="http://schemas.openxmlformats.org/officeDocument/2006/relationships/tableStyles" Target="/ppt/tableStyles.xml" Id="R3d891fd5a0d447c0" /><Relationship Type="http://schemas.openxmlformats.org/officeDocument/2006/relationships/slide" Target="/ppt/slides/slide1.xml" Id="R096852966af145b2" /><Relationship Type="http://schemas.openxmlformats.org/officeDocument/2006/relationships/slide" Target="/ppt/slides/slide2.xml" Id="Rc83ed47fd32a4dc8" /><Relationship Type="http://schemas.openxmlformats.org/officeDocument/2006/relationships/slide" Target="/ppt/slides/slide3.xml" Id="R0bb278996bc34161" /><Relationship Type="http://schemas.openxmlformats.org/officeDocument/2006/relationships/slide" Target="/ppt/slides/slide4.xml" Id="R3796a494a0664b98" /><Relationship Type="http://schemas.openxmlformats.org/officeDocument/2006/relationships/slide" Target="/ppt/slides/slide5.xml" Id="R30fb8e4abb134d26" /><Relationship Type="http://schemas.openxmlformats.org/officeDocument/2006/relationships/slide" Target="/ppt/slides/slide6.xml" Id="Rf7bb835bd19042c2" /><Relationship Type="http://schemas.openxmlformats.org/officeDocument/2006/relationships/slide" Target="/ppt/slides/slide7.xml" Id="Rb18e301a4a7b455c" /><Relationship Type="http://schemas.openxmlformats.org/officeDocument/2006/relationships/slide" Target="/ppt/slides/slide8.xml" Id="R4f7330f06e6742b8" /><Relationship Type="http://schemas.openxmlformats.org/officeDocument/2006/relationships/slide" Target="/ppt/slides/slide9.xml" Id="R6b2c88bdda364e65" /><Relationship Type="http://schemas.openxmlformats.org/officeDocument/2006/relationships/slide" Target="/ppt/slides/slide10.xml" Id="Rc04412932f6144e6" /><Relationship Type="http://schemas.openxmlformats.org/officeDocument/2006/relationships/slide" Target="/ppt/slides/slide11.xml" Id="R560151ae57f44abf" /><Relationship Type="http://schemas.openxmlformats.org/officeDocument/2006/relationships/slide" Target="/ppt/slides/slide12.xml" Id="Rbbd7a7c5b4ba4a08" /><Relationship Type="http://schemas.openxmlformats.org/officeDocument/2006/relationships/slide" Target="/ppt/slides/slide13.xml" Id="R6beec44109af4d43" /><Relationship Type="http://schemas.openxmlformats.org/officeDocument/2006/relationships/slide" Target="/ppt/slides/slide14.xml" Id="Rdaf031e163694297" /><Relationship Type="http://schemas.openxmlformats.org/officeDocument/2006/relationships/slide" Target="/ppt/slides/slide15.xml" Id="R9cc66e1aada741b6" /><Relationship Type="http://schemas.openxmlformats.org/officeDocument/2006/relationships/slide" Target="/ppt/slides/slide16.xml" Id="R96dfe4652bd8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93382c785e48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IBER Technical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IBER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fe8bde67a491d" /><Relationship Type="http://schemas.openxmlformats.org/officeDocument/2006/relationships/notesMaster" Target="/ppt/notesMasters/notesMaster1.xml" Id="R0d1f6b934c694c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d5ea9f46d484e" /><Relationship Type="http://schemas.openxmlformats.org/officeDocument/2006/relationships/notesMaster" Target="/ppt/notesMasters/notesMaster1.xml" Id="R02b6c85d0a3b4f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962e21a7a4172" /><Relationship Type="http://schemas.openxmlformats.org/officeDocument/2006/relationships/notesMaster" Target="/ppt/notesMasters/notesMaster1.xml" Id="Rbb4dc53100ae45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2490eb3c6a4b09" /><Relationship Type="http://schemas.openxmlformats.org/officeDocument/2006/relationships/notesMaster" Target="/ppt/notesMasters/notesMaster1.xml" Id="Raebbdd371c8c40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655d2acd1348be" /><Relationship Type="http://schemas.openxmlformats.org/officeDocument/2006/relationships/notesMaster" Target="/ppt/notesMasters/notesMaster1.xml" Id="Rd1bb48ebbc4b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f76ec34082458f" /><Relationship Type="http://schemas.openxmlformats.org/officeDocument/2006/relationships/notesMaster" Target="/ppt/notesMasters/notesMaster1.xml" Id="R7be79881137545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6db0fd95e4050" /><Relationship Type="http://schemas.openxmlformats.org/officeDocument/2006/relationships/notesMaster" Target="/ppt/notesMasters/notesMaster1.xml" Id="R8678b9c036e947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4610e72a9f4318" /><Relationship Type="http://schemas.openxmlformats.org/officeDocument/2006/relationships/notesMaster" Target="/ppt/notesMasters/notesMaster1.xml" Id="R1c5e4f572e1c46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6190a8ed44491c" /><Relationship Type="http://schemas.openxmlformats.org/officeDocument/2006/relationships/notesMaster" Target="/ppt/notesMasters/notesMaster1.xml" Id="R743a8182b14942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bb32787a4274" /><Relationship Type="http://schemas.openxmlformats.org/officeDocument/2006/relationships/notesMaster" Target="/ppt/notesMasters/notesMaster1.xml" Id="R37943d9fcfcb46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08393f961b4e54" /><Relationship Type="http://schemas.openxmlformats.org/officeDocument/2006/relationships/notesMaster" Target="/ppt/notesMasters/notesMaster1.xml" Id="R02c6973b504146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f42a2713bb464c" /><Relationship Type="http://schemas.openxmlformats.org/officeDocument/2006/relationships/notesMaster" Target="/ppt/notesMasters/notesMaster1.xml" Id="R26fb99bb7b0c40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487cba91fe45e7" /><Relationship Type="http://schemas.openxmlformats.org/officeDocument/2006/relationships/notesMaster" Target="/ppt/notesMasters/notesMaster1.xml" Id="R7ab425569aee4d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52c8c0b92a4b5e" /><Relationship Type="http://schemas.openxmlformats.org/officeDocument/2006/relationships/notesMaster" Target="/ppt/notesMasters/notesMaster1.xml" Id="Rb38639fa9a0c4b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aa5b04b8e44937" /><Relationship Type="http://schemas.openxmlformats.org/officeDocument/2006/relationships/notesMaster" Target="/ppt/notesMasters/notesMaster1.xml" Id="R3b1ec270a21547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cdd6e2536c43e6" /><Relationship Type="http://schemas.openxmlformats.org/officeDocument/2006/relationships/notesMaster" Target="/ppt/notesMasters/notesMaster1.xml" Id="Red38279d00074a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teams want useful AI review without sending every repository detail directly to a public assistant. Set expectations that this is a working MVP demo, not a fully governed production gateway.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docs/BIBER_AZURE_DEVOPS_CONFERENCE_TALK.md</a:t>
            </a:r>
          </a:p>
          <a:p xmlns:a="http://schemas.openxmlformats.org/drawingml/2006/main">
            <a:r>
              <a:t>- Internal source: docs/BIBER_AZURE_DEVOPS_DEMO_RUNBOOK.md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session around practical trust. PR and commit review are easier to validate than a broad autonomous software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the narrow demo flow. Emphasize that narrowness is a product decision: it makes the demo testable and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Azure DevOps custom build task docs: https://learn.microsoft.com/en-us/azure/devops/extend/develop/integrate-build-task</a:t>
            </a:r>
          </a:p>
          <a:p xmlns:a="http://schemas.openxmlformats.org/drawingml/2006/main">
            <a:r>
              <a:t>- Internal source: examples/azure_devops_extension/tasks/biber-ai-pr-review/v1/task.json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architecture diagram. Keep it simple: Azure DevOps collects context, BIBER routes requests, and local model execution stays behind one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docs/BIBER_AZURE_DEVOPS_EXTENSION_MVP.md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model-agility story. The API is the stable product surface; model families are implementation details that can evolve.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app/model_registry.py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MVP looks conservative. It is meant to create trust before adding edit loops and multi-agent autonomy.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the limitation. Bounded-diff review is valuable, but mature repo RAG is still roadmap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Azure DevOps beats a custom app for a conference demo. It meets enterprise developers where they already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Azure DevOps extension manifest docs: https://learn.microsoft.com/en-us/azure/devops/extend/develop/manifest</a:t>
            </a:r>
          </a:p>
          <a:p xmlns:a="http://schemas.openxmlformats.org/drawingml/2006/main">
            <a:r>
              <a:t>- Internal source: examples/azure_devops_extension/vss-extension.json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security credibility slide. Client-side limits help user experience, but API-side enforcement protects the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live demo sequence short. Have an offline demo bundle ready if venue network, Azure DevOps permissions, or API connectivity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docs/BIBER_AZURE_DEVOPS_DEMO_RUNBOOK.md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Credibility comes from being precise. Name the boundaries before the audience has to ask about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slide back to BIBER's broader MVP: repo context, safe edits, test execution, GitHub save, and optional mentor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Qwen2.5 versus Qwen3 questions. The platform is designed so the registry and provider abstraction absorb model upgrades.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numbers as illustrative emphasis, not measured production telemetry. The key point is routing: cheap local inference first, mentor review selectively.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recent local green validations without overstating production readiness. The goal is to show the demo has regression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scripts/biber_azure_devops_review_smoke.py</a:t>
            </a:r>
          </a:p>
          <a:p xmlns:a="http://schemas.openxmlformats.org/drawingml/2006/main">
            <a:r>
              <a:t>- Internal source: scripts/biber_azure_devops_panel_behavior_smoke.js</a:t>
            </a:r>
          </a:p>
          <a:p xmlns:a="http://schemas.openxmlformats.org/drawingml/2006/main">
            <a:r>
              <a:t>- Internal source: scripts/biber_azure_devops_publisher_readiness_smoke.py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build philosophy: a platform becomes real through small trusted workflows. Invite questions about model swapping, private inference, and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docs/BIBER_AZURE_DEVOPS_PRIVATE_PUBLISH.md</a:t>
            </a:r>
          </a:p>
          <a:p xmlns:a="http://schemas.openxmlformats.org/drawingml/2006/main">
            <a:r>
              <a:t>- Internal source: docs/BIBER_AZURE_DEVOPS_LIVE_DRY_RUN.md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8d573aa9f4d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0cd9aaaebe4c37" /><Relationship Type="http://schemas.openxmlformats.org/officeDocument/2006/relationships/slideLayout" Target="/ppt/slideLayouts/slideLayout1.xml" Id="R8eaab64d784545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ab64d784545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IBER Technical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IBER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efebe9def45d2" /><Relationship Type="http://schemas.openxmlformats.org/officeDocument/2006/relationships/image" Target="/ppt/media/image.png" Id="Rb64bbcfbd75c43ef" /><Relationship Type="http://schemas.openxmlformats.org/officeDocument/2006/relationships/notesSlide" Target="/ppt/notesSlides/notesSlide1.xml" Id="R97864cd1084c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70f68f9154c69" /><Relationship Type="http://schemas.openxmlformats.org/officeDocument/2006/relationships/notesSlide" Target="/ppt/notesSlides/notesSlide2.xml" Id="Rddf9c0b6d08f40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72ce4b0764685" /><Relationship Type="http://schemas.openxmlformats.org/officeDocument/2006/relationships/notesSlide" Target="/ppt/notesSlides/notesSlide3.xml" Id="Re9b1cc6617fe44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1a2413d2e4a59" /><Relationship Type="http://schemas.openxmlformats.org/officeDocument/2006/relationships/notesSlide" Target="/ppt/notesSlides/notesSlide4.xml" Id="R2943efda661a47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c0df022a94a77" /><Relationship Type="http://schemas.openxmlformats.org/officeDocument/2006/relationships/notesSlide" Target="/ppt/notesSlides/notesSlide5.xml" Id="R1fd82c00eddc4d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9c8dfd8b24443" /><Relationship Type="http://schemas.openxmlformats.org/officeDocument/2006/relationships/notesSlide" Target="/ppt/notesSlides/notesSlide6.xml" Id="R7891d917fd5642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f9f43e327400b" /><Relationship Type="http://schemas.openxmlformats.org/officeDocument/2006/relationships/notesSlide" Target="/ppt/notesSlides/notesSlide7.xml" Id="R70c8f7d05bcd48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9da0e3542496d" /><Relationship Type="http://schemas.openxmlformats.org/officeDocument/2006/relationships/notesSlide" Target="/ppt/notesSlides/notesSlide8.xml" Id="Rb515b8dd83ba4e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7a13810be4287" /><Relationship Type="http://schemas.openxmlformats.org/officeDocument/2006/relationships/notesSlide" Target="/ppt/notesSlides/notesSlide9.xml" Id="R2dbf9e98d9a54e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b4e4cd03e41d6" /><Relationship Type="http://schemas.openxmlformats.org/officeDocument/2006/relationships/notesSlide" Target="/ppt/notesSlides/notesSlide10.xml" Id="Rf3991bb893d243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140d935744345" /><Relationship Type="http://schemas.openxmlformats.org/officeDocument/2006/relationships/notesSlide" Target="/ppt/notesSlides/notesSlide11.xml" Id="R71b43743ba1b45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4ba7f7de747f2" /><Relationship Type="http://schemas.openxmlformats.org/officeDocument/2006/relationships/notesSlide" Target="/ppt/notesSlides/notesSlide12.xml" Id="Rfda816fc472646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018e6753e4a50" /><Relationship Type="http://schemas.openxmlformats.org/officeDocument/2006/relationships/notesSlide" Target="/ppt/notesSlides/notesSlide13.xml" Id="Rc78e7312f30740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3273a6744bcb" /><Relationship Type="http://schemas.openxmlformats.org/officeDocument/2006/relationships/chart" Target="/ppt/slides/charts/chart1.xml" Id="R0bf9dacfdd924e4a" /><Relationship Type="http://schemas.openxmlformats.org/officeDocument/2006/relationships/notesSlide" Target="/ppt/notesSlides/notesSlide14.xml" Id="Rb1354eb790d84f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e3a0131d54e77" /><Relationship Type="http://schemas.openxmlformats.org/officeDocument/2006/relationships/notesSlide" Target="/ppt/notesSlides/notesSlide15.xml" Id="Ra52235a6e4a544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56683b9cf4966" /><Relationship Type="http://schemas.openxmlformats.org/officeDocument/2006/relationships/notesSlide" Target="/ppt/notesSlides/notesSlide16.xml" Id="Rad1ad3606eb44d3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Local GPU first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3"/>
              <c:pt idx="0">
                <c:v>Routine review</c:v>
              </c:pt>
              <c:pt idx="1">
                <c:v>Hard failures</c:v>
              </c:pt>
              <c:pt idx="2">
                <c:v>Release gates</c:v>
              </c:pt>
            </c:strLit>
          </c:cat>
          <c:val>
            <c:numLit>
              <c:formatCode>General</c:formatCode>
              <c:ptCount val="3"/>
              <c:pt idx="0">
                <c:v>85</c:v>
              </c:pt>
              <c:pt idx="1">
                <c:v>40</c:v>
              </c:pt>
              <c:pt idx="2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605D6-99FD-4151-812C-053170F0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BIBER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EE18E-4B5B-4C55-A2FD-BFED0EBC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38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Private Code Review for Azure DevOps with Swappable Local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1D765-2E1E-4921-B1A5-EFD14C2A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 practical conference demo: bounded diff in, private model review out, human approval before posting.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bbcfbd75c43ef"/>
          <a:stretch xmlns:a="http://schemas.openxmlformats.org/drawingml/2006/main"/>
        </p:blipFill>
        <p:spPr>
          <a:xfrm xmlns:a="http://schemas.openxmlformats.org/drawingml/2006/main">
            <a:off x="7524750" y="8953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4615E-32F3-4780-AA0A-08E34313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9980F-4717-4D2D-A65E-08B79E0D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8D902-A5BD-4E91-AC3E-940A35CD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45-minute technical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F4298-E4AA-4308-B7EC-A6498F5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 first, architecture second, roadmap last.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04B8-EEE4-4E09-93D2-6993E03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01</a:t>
            </a:r>
          </a:p>
        </p:txBody>
      </p:sp>
    </p:spTree>
    <p:extLst>
      <p:ext uri="{BB962C8B-B14F-4D97-AF65-F5344CB8AC3E}">
        <p14:creationId xmlns:p14="http://schemas.microsoft.com/office/powerpoint/2010/main" val="1689941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D64BA-3725-4325-9F08-9F24A39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62F0-510F-4599-97B2-7FA0126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Private AI review should start with one useful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D0A97-7A1D-420A-8474-4D504B3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75E80-0DDA-4815-96D8-5E1DAD2E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7B1B8-918C-46A0-915B-4EC8C58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CB3CA-91A7-4464-94CE-4BF57053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Clear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B94BD-1B3E-4C3A-A23D-72B1251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 pull request or commit diff is small enough to bound, review, and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BF4AB-F447-4A02-BF64-D1B6592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64BA0-7C7B-4DB0-B29F-0B10AA39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5BEE1-EB13-4822-9E82-321A274D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Human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3CAAC-1CDD-47E9-BE81-52F5F69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33675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first run creates an artifact. Comment posting is opt-in after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97169-5B92-47B4-BEA1-D2E794F8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ACF34-A79C-4A5C-9C04-7B84594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EEB74-A0A1-4745-B6F8-CDE4F19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Visible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AE68F-CCDA-414A-BB45-6452F21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33675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Developers see correctness, security, tests, and merge-risk notes where they already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F6087-486A-4C7E-9D05-92B307A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EA16E-233E-4CEE-AAC4-C41055B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243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Do one workflow well before broad orchestration.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A4415-6788-4126-BC26-EF38C433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7A99A-A393-4F93-8FEC-C0E6CCC3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0062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Keep model execution swappable behind an API contract.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000A7-593F-4337-9CE2-6FD60B4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CD00E-E0AF-4A42-A3AA-97F556A6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768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Make safety visible in the demo, not hidden in promises.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70E22-E9A6-42CF-B98F-DE4F6FE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02</a:t>
            </a:r>
          </a:p>
        </p:txBody>
      </p:sp>
    </p:spTree>
    <p:extLst>
      <p:ext uri="{BB962C8B-B14F-4D97-AF65-F5344CB8AC3E}">
        <p14:creationId xmlns:p14="http://schemas.microsoft.com/office/powerpoint/2010/main" val="596629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3700A-86DA-4C78-832A-21880FCB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E5726-9C77-448E-9962-EE07AA9C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conference demo is deliberately narrow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83D57-DC4A-4FC0-AA74-953AF695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7F218-A5E7-4735-9E1F-4F1AAA9A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Azure Pipeline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Collect bounded diff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FACFA-3AB2-4B87-9789-83265EA0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FEDB6-1F75-4013-9C9D-A2FD5D70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BIBER API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/v1/chat/completions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3893-70C0-4C83-BFC2-FA26D48F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FDB97-6272-4C0A-B975-F5CE91BB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Review Artifact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Markdown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B864A-0DB1-477F-84CD-9E7EE19E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AAFB9-EB96-4B71-BAB4-A0B68CE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PR Comment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Optional post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27845-B771-40DD-A027-22905B3C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Commit lane publishes artifacts only. PR lane can post one controlled thread after dry-run acceptance.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746F1-FFF0-4846-8A6E-832C3254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03</a:t>
            </a:r>
          </a:p>
        </p:txBody>
      </p:sp>
    </p:spTree>
    <p:extLst>
      <p:ext uri="{BB962C8B-B14F-4D97-AF65-F5344CB8AC3E}">
        <p14:creationId xmlns:p14="http://schemas.microsoft.com/office/powerpoint/2010/main" val="1374409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FBB4B-A5ED-4BF4-8359-5E37BCCB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8C36-6A74-4F0D-87CA-483D223A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Architecture separates review, model execution, and posting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36066-A8DD-4B7E-AF7D-B40A4A0F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2678E-E6A6-46C6-B5C0-6374FB66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24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Azure DevOps</a:t>
            </a:r>
          </a:p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Pipeline task and hub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9296E-BC36-4662-AFA7-A2977A27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524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BIBER API</a:t>
            </a:r>
          </a:p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OpenAI-compatible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DFAA-47EE-4AE6-851F-23658C74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524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Local model</a:t>
            </a:r>
          </a:p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Qwen2.5 now, later models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C145B-7BE1-4B64-80E1-8321495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742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630D2-4FE2-4A9F-B5E1-5D105D0D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24125"/>
            <a:ext cx="742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167CE-3F5A-42D1-8283-BF83228A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619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E8AAF-CE3A-4883-A15A-236F02F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50D7C-6428-4748-AF42-BCE7423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24375"/>
            <a:ext cx="577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Optional mentor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5CD7B-FF23-4DAB-BC6B-D13650A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924425"/>
            <a:ext cx="577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OpenAI review can be enabled later for high-risk changes. It remains disabled by default in the MVP.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93F21-E508-4C9C-A2C2-7AACF427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04</a:t>
            </a:r>
          </a:p>
        </p:txBody>
      </p:sp>
    </p:spTree>
    <p:extLst>
      <p:ext uri="{BB962C8B-B14F-4D97-AF65-F5344CB8AC3E}">
        <p14:creationId xmlns:p14="http://schemas.microsoft.com/office/powerpoint/2010/main" val="151584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B256B-9656-486E-B418-4B3FD4C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92725-B0A0-4343-B514-6D3BE91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BIBER speaks an OpenAI-compatible model-source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F594C-00F8-472C-AD5C-4E7C11E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D95A0-B5F5-43D5-845F-CDC3F728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E3200-16EF-4D16-84F1-B1FEA6AD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9DD75-BD94-48C6-AAA7-130219CA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86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/v1/models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B9E33-774E-4905-B699-719B7438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860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Clients discover stable and candidate model metadata without depending on one provider family.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CE8D4-523B-42B3-91F0-7C60E7F6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6B7CE-CAA3-4EBA-A1B5-6DA9A05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06FB6-55E6-4978-BDEE-27AAD380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86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/v1/chat/completions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F18C-314A-4CE5-9085-F58D662E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860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Conversational agents, pipeline tasks, and extension panels can use the same model-source contract.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22ABE-35E2-42F2-9F82-0B7B8C47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920E5-8920-497D-B2D1-6B8DFAB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910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biber-dev-core-v1 can use Qwen2.5-Coder now.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606AB-AB3D-42B2-9924-A5BB92C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4FA07-21BD-49C5-974E-AB336DCB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672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biber-dev-core-v2-candidate can point to Qwen3-Coder or a later provider.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581F3-1DE1-40F1-881D-EC26EBD1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31BB8-5390-401F-B5E4-15D93D48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Client tools should not break when the backend model changes.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823A1-5D76-478C-BBB8-59A8C3FC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05</a:t>
            </a:r>
          </a:p>
        </p:txBody>
      </p:sp>
    </p:spTree>
    <p:extLst>
      <p:ext uri="{BB962C8B-B14F-4D97-AF65-F5344CB8AC3E}">
        <p14:creationId xmlns:p14="http://schemas.microsoft.com/office/powerpoint/2010/main" val="1606714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8ED5C-5C56-41E1-9E94-CAB2E6E4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832FF-C453-4599-9A36-CBA1F2EB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default review path avoids risky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C7A53-AC68-4987-BAC7-F29CF07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2000250"/>
          <a:ext xmlns:a="http://schemas.openxmlformats.org/drawingml/2006/main" cx="100965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65500"/>
                <a:gridCol w="3365500"/>
                <a:gridCol w="3365500"/>
              </a:tblGrid>
              <a:tr h="6000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MVP default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t>OpenAI mentor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Controls cost and keeps private-first story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Avoids accidental weight or dataset mutation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t>PR comments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Dry-run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Human reviews artifact before posting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t>Secrets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Redacted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Limits sensitive values sent to any model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5AA3A-10EE-4476-BA00-6DA354D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847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36D31-1400-4C3E-B015-0B11605E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22DA3-306F-4024-8510-F3B86083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47687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Design 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3D257-B8C3-44FB-84D7-ACFC70B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76925"/>
            <a:ext cx="805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Review assistance is allowed early. Repository mutation, training, and public mentor calls require explicit gates.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F9F95-1418-41C9-8EB8-31C067C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06</a:t>
            </a:r>
          </a:p>
        </p:txBody>
      </p:sp>
    </p:spTree>
    <p:extLst>
      <p:ext uri="{BB962C8B-B14F-4D97-AF65-F5344CB8AC3E}">
        <p14:creationId xmlns:p14="http://schemas.microsoft.com/office/powerpoint/2010/main" val="1289635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ABA54-6554-4040-A214-8C953324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2444D-D81E-405C-919C-A30DE944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pipeline sends less code than a full repository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87D7F-E0E1-4942-A1D5-973AD69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46ADB-7498-4500-8D28-21659615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95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785EC-48D5-44ED-A89F-E13D68B3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29B03-DB97-4460-8C6F-94489139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Bounded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C4F65-C703-473C-B3DB-F90C902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2533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payload contains only the selected change range and changed path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637C1-BF8F-4EAB-B141-09856371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997F6-69DB-4E36-B448-B412E42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E6389-FA7E-4880-83B6-D4E80BAC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86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Redaction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A110A-139C-4921-9754-8CE648EC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86050"/>
            <a:ext cx="2533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Secret-like tokens are scrubbed before the model review request is formed.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2652A-A1E3-41E3-9EE7-EE5269A9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95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B0C91-13DD-4B54-90BE-584B744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21CF5-2780-47D2-AED1-0ACE0806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Honest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7BCA1-B8DD-45DA-9B6A-CBA25468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533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This is not full repository RAG yet. It is a review lane that can grow into RAG.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C4DB3-F2C3-47CF-AE94-643BEC6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The demo should win trust by showing what it sends and what it refuses to send.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BA7DA-C890-49BB-9C9C-ADF7E8B5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07</a:t>
            </a:r>
          </a:p>
        </p:txBody>
      </p:sp>
    </p:spTree>
    <p:extLst>
      <p:ext uri="{BB962C8B-B14F-4D97-AF65-F5344CB8AC3E}">
        <p14:creationId xmlns:p14="http://schemas.microsoft.com/office/powerpoint/2010/main" val="1214871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7EB12-2280-4D78-AFC5-C9A1BDBA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72D7-0F9D-4ED2-B108-25465281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Azure DevOps is a strong first enterprise demo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5AE7B-C897-4C31-BCED-A590FF5B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0DB8B-9420-4A04-97CD-48BE1983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44BF3-CE9D-4EC3-9B91-08750639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PR review is a familiar developer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5E523-1F47-4FF5-8FA4-4CDB4E55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80177-80DF-4832-94C1-81C273C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Pipeline artifacts are easy to inspect and archive.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401D5-0E58-49C9-8EB4-FC4B305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3EC8D-2931-4E64-A24B-24348A0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623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PR comments create visible value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FBDA4-6F2B-458C-8818-6A1FF4B8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511DE-B43B-4C2F-B547-E162E426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719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The same flow works as script, task, or extension panel.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EFBF7-F785-4DFC-9F36-E7519C8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5D1B7-3494-4E5F-88E2-A9C6FE6E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BIBER AI</a:t>
            </a:r>
          </a:p>
          <a:p xmlns:a="http://schemas.openxmlformats.org/drawingml/2006/main"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A3FBA-09BB-4656-8DFF-F90E667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Hub panel + pipeline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47A25-4A70-4F51-AD81-8E99DC0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08</a:t>
            </a:r>
          </a:p>
        </p:txBody>
      </p:sp>
    </p:spTree>
    <p:extLst>
      <p:ext uri="{BB962C8B-B14F-4D97-AF65-F5344CB8AC3E}">
        <p14:creationId xmlns:p14="http://schemas.microsoft.com/office/powerpoint/2010/main" val="1170081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62F38-B3F8-41FF-AE6E-D9D80C1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EC877-C549-4462-93F2-F6BD18C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Server-side protections matter more than client-side promises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6C07C-49F0-443E-997F-C0AF042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682AB-3090-494B-8260-0274AE6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866CB-E291-4645-AEFA-A1C46B40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EC00B-7379-4AEC-998E-0719515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812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Client UX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9F11A-A467-4050-98FF-4BBC77E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8130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Extensions can guide users with clear setup and conservative defaults.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42FD2-A9D3-40D2-B689-8F65166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C2436-2ED7-4863-8A47-EA541A4A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CF092-8BF9-4C30-8EB2-2A72EB0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API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8DD7E-B1E3-44C4-9D14-35265D8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8130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BIBER API must enforce auth, request limits, allowlists, and safe modes.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DC46E-DEAD-4DF2-AE02-1B113B3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C540C-3AD7-4203-AEC8-16344DF7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43056-3308-4E5B-BF2B-6269AD80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Public 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20A6C-AB37-432E-8E30-D201F4A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8130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Cloudflare, WAF, audit logs, and quotas belong before broad release.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4D8FE-745D-477D-9451-CAEBAF28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Rate limits in an extension are useful, but they are not the security boundary.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8F201-C13A-46D7-B18A-FA7762E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09</a:t>
            </a:r>
          </a:p>
        </p:txBody>
      </p:sp>
    </p:spTree>
    <p:extLst>
      <p:ext uri="{BB962C8B-B14F-4D97-AF65-F5344CB8AC3E}">
        <p14:creationId xmlns:p14="http://schemas.microsoft.com/office/powerpoint/2010/main" val="185483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EE26B-C1CD-4179-89C7-657A6B38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0A102-6685-4E75-872E-28242DA3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What the demo can show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AE823-8811-4178-8C35-50565DDF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A2208-D742-41A9-9C60-04CC070E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66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FEC97-860A-4859-9D9A-33EDDEA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16070-E53E-428F-A9D0-C39CAFC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335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Run PR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34595-48A9-4649-9F01-7B6CB527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71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commentMode=dry-run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A86B0-591B-4903-A3F5-114754AB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66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A9EE9-FEE7-488B-9A04-EAC65909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14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47AA1-2CBA-48AD-9F1D-9D8D412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19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Open 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AB879-7216-4F10-A67B-4AE0D6B7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summary, risks,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FCBC9-596D-42A6-8B1D-DA132F5F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66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E6952-E2C3-40F4-B7F7-3A239BF3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04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8334D-899D-426D-9870-160BDD7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051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Show redaction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7913B-DE15-4E55-9FEC-B12843AA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43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secret-like values removed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F268C-269E-4F44-ACFC-F334D94A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66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63A93-0508-4E26-83D1-1D2A99A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EAD23-2E51-4CC0-8634-999A843A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909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Test panel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9545A-5545-439C-AAD4-E7C6B27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29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/v1/models connection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44F75-6862-4C0F-945A-4B43C9B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66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8EE88-7EB1-4283-B1FB-3F614AC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8744-C395-4024-9CA1-A6BCD1A9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767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Optional PR 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01374-2899-4E69-915E-6C0AD7D9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14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post only after acceptance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08607-C969-4237-B9DD-CA7E041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10</a:t>
            </a:r>
          </a:p>
        </p:txBody>
      </p:sp>
    </p:spTree>
    <p:extLst>
      <p:ext uri="{BB962C8B-B14F-4D97-AF65-F5344CB8AC3E}">
        <p14:creationId xmlns:p14="http://schemas.microsoft.com/office/powerpoint/2010/main" val="1261297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A64AE-D16E-4AF9-8B9C-05788E21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DF575-7B91-49F1-9427-2EE47495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What the demo should not claim yet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0ABCA-6BE2-4A11-AC76-CCD78FA1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924050"/>
          <a:ext xmlns:a="http://schemas.openxmlformats.org/drawingml/2006/main" cx="10287000" cy="312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6248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Can claim now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Do not claim yet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r>
                        <a:t>PR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Bounded diff review with artifact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Complete autonomous reviewer</a:t>
                      </a:r>
                    </a:p>
                  </a:txBody>
                  <a:tcPr marL="91440" marR="91440" marT="45720" marB="45720"/>
                </a:tc>
              </a:tr>
              <a:tr h="624840">
                <a:tc>
                  <a:txBody>
                    <a:bodyPr/>
                    <a:lstStyle/>
                    <a:p>
                      <a:r>
                        <a:t>Repo understanding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Changed-path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Full repository RAG</a:t>
                      </a:r>
                    </a:p>
                  </a:txBody>
                  <a:tcPr marL="91440" marR="91440" marT="45720" marB="45720"/>
                </a:tc>
              </a:tr>
              <a:tr h="624840"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Redaction and dry-run controls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SOC2-ready gateway</a:t>
                      </a:r>
                    </a:p>
                  </a:txBody>
                  <a:tcPr marL="91440" marR="91440" marT="45720" marB="45720"/>
                </a:tc>
              </a:tr>
              <a:tr h="624840"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Human-gated comments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Automatic merge approval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DDA10-8A03-417B-8646-C2F6AADE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11</a:t>
            </a:r>
          </a:p>
        </p:txBody>
      </p:sp>
    </p:spTree>
    <p:extLst>
      <p:ext uri="{BB962C8B-B14F-4D97-AF65-F5344CB8AC3E}">
        <p14:creationId xmlns:p14="http://schemas.microsoft.com/office/powerpoint/2010/main" val="5211102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62535-8806-4CEE-B257-108E958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7A9E4-A915-47A8-8F7D-474EE9B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roadmap grows from review into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3E546-8565-4A65-8C45-B6D86A2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E0278-4DE1-42B7-9839-E207544B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Repo context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Better file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2B58D-70AA-4E64-A663-3D5D2337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8E6D8-A799-4ADA-BAA3-AE5F797C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Edit planning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Safer multi-file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5B6E9-D742-4D14-A86E-AE802A8C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18C0C-17A1-4BD5-89E1-30483022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Test diagnosis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Repair with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CB14F-FE27-42C1-BFC0-C85356E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28BD-FF2E-4BC9-A989-7C9798FB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Mentor review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Optional high-risk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95063-28C6-4E8B-BA67-29DB08A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The multi-agent platform should emerge from validated workflows, not arrive as a giant first version.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BF810-9FD7-4682-8252-0DA6DD8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12</a:t>
            </a:r>
          </a:p>
        </p:txBody>
      </p:sp>
    </p:spTree>
    <p:extLst>
      <p:ext uri="{BB962C8B-B14F-4D97-AF65-F5344CB8AC3E}">
        <p14:creationId xmlns:p14="http://schemas.microsoft.com/office/powerpoint/2010/main" val="18734293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3E031-2B2E-4FB7-AB6A-29B423EB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F506E-D921-4826-B319-6F6350E6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Swappable models are central, not cosmetic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FA38F-78CD-45F2-A03D-5F41DD67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94313-8309-487B-97B0-AB5F651E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4B1B9-DDBB-4984-AF42-14E8789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72261-CB8E-4680-A145-5B812FF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Current stable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A2906-CEC5-4A95-818A-483EC655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Qwen2.5-Coder-backed biber-dev-core-v1 for local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09673-85EE-4F2C-A698-9A1C15F9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25A61-7442-49E6-9118-06D45964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C2C25-ED8D-411F-9926-7E2137AA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86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Candidate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A2199-BE62-4944-A113-6DE33DEE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860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Qwen3-Coder or newer providers can be tested as biber-dev-core-v2-candidate.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08C0E-121C-4969-93E2-F0F25A0D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798D7-9E82-4FA5-B877-7AB69E9F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69A95-1E66-442F-94FD-843677C2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Contract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0BDCC-0F4A-4B31-A408-3582FDEE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Clients call the same endpoints and read registry metadata before routing.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0893E-DEE1-42DC-9821-ED25BA8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CC3A4-F2EB-45AD-AA5B-B3AC2F01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958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Provider changes should improve quality without rewriting clients.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219F7-8525-4E32-A211-4E48AA71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BAF8A-B782-46BA-8CD9-66CA118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911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Benchmark gates decide promotion, not model hype.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BBF39-E046-48B4-A3A7-9BEB57FE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13</a:t>
            </a:r>
          </a:p>
        </p:txBody>
      </p:sp>
    </p:spTree>
    <p:extLst>
      <p:ext uri="{BB962C8B-B14F-4D97-AF65-F5344CB8AC3E}">
        <p14:creationId xmlns:p14="http://schemas.microsoft.com/office/powerpoint/2010/main" val="999618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BB509-B85D-494E-9F36-A97A4DA0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D774B-2F53-4212-9AAE-11C0C07E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Cost control is an architectural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8CD3D-484C-49F1-95EE-C223C56C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381125" y="2095500"/>
          <a:ext xmlns:a="http://schemas.openxmlformats.org/drawingml/2006/main" cx="6667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f9dacfdd924e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ED592-30D8-48D6-A40C-CAC135C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66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31EA5-8D7E-41DA-91D6-97FB6E66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5F348-4E0B-4084-B4A6-DFCD661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Operating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74F3D-8C8D-4296-9C72-31183A6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247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Spend local GPU cycles on routine work. Spend paid mentor calls only where judgment matters.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4B354-D1F4-420A-835D-7F150978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14</a:t>
            </a:r>
          </a:p>
        </p:txBody>
      </p:sp>
    </p:spTree>
    <p:extLst>
      <p:ext uri="{BB962C8B-B14F-4D97-AF65-F5344CB8AC3E}">
        <p14:creationId xmlns:p14="http://schemas.microsoft.com/office/powerpoint/2010/main" val="1603880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BA274-833D-47CF-B235-6A0CD708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0C5F3-A4F7-45E4-9C5D-611DADE4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MVP validation contract is already testable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CDDDB-69C0-4263-A7EA-5E6BCA94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9BE8E-3CA8-4015-846C-584C384D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B1CC6-50BC-4E3A-A527-178C3B0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D4C0-2CA9-472D-8C74-3CC21FB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336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Pipeline smoke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ECAE4-DFFD-4691-84C0-8D83689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33675"/>
            <a:ext cx="4343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Checks extension files, redaction behavior, dry-run defaults, and package shape.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F5E2C-7E33-41E0-8CC6-F3996AD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58705-24D4-46E8-8AE9-2106B1E1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109BA-1190-482B-A3F9-9ACBF2B3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336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Panel 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D5D76-5762-42F2-B169-3C8286D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33675"/>
            <a:ext cx="4343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Checks the browser panel connection test flow and UI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57770-CF62-4F65-87F5-650433D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048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A2CAE-EAF4-4118-9F06-A935DB2D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C25B7-3D58-432D-8FA4-4686159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24375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Confidence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4899A-7814-435F-AA99-14FBAA0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24425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No mentor, no training, no external paid API call is required for local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27EC7-AAA6-4ACB-A5B7-B337872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15</a:t>
            </a:r>
          </a:p>
        </p:txBody>
      </p:sp>
    </p:spTree>
    <p:extLst>
      <p:ext uri="{BB962C8B-B14F-4D97-AF65-F5344CB8AC3E}">
        <p14:creationId xmlns:p14="http://schemas.microsoft.com/office/powerpoint/2010/main" val="874452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A11D7-093E-46E1-899B-73304300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BIBER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58B72-6CCB-49DD-B351-A56324E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next release should stay practical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6C9E3-0C9A-49E9-AC99-D3B885FB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B4F45-5ACA-45F5-8C48-689FFBB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8DA0D-46E9-46C8-8FBA-37E75923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955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Package the Azure DevOps extension privately.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4EC7D-1AFE-4A66-86F8-F4669141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CEE74-CD04-4582-9133-3928A21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Share only with the demo organization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2B778-F2E0-4824-9821-78726B88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668E-77BA-47DC-A2A3-AEF74052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766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Run one private Azure Pipeline dry-run.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155B-8449-4890-967E-1C3B59D7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BF476-81F5-4D16-B52D-33F7AF0E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67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Add one controlled PR comment demo.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0701B-7848-478B-8763-799A7956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0554E-60A0-419B-96E4-09279161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Keep production gateway work as the next, separate release.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D0FD7-5CD2-4951-ACFE-AF594E88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Private GPU review demo | Azure DevOps | 16</a:t>
            </a:r>
          </a:p>
        </p:txBody>
      </p:sp>
    </p:spTree>
    <p:extLst>
      <p:ext uri="{BB962C8B-B14F-4D97-AF65-F5344CB8AC3E}">
        <p14:creationId xmlns:p14="http://schemas.microsoft.com/office/powerpoint/2010/main" val="556698414"/>
      </p:ext>
    </p:extLst>
  </p:cSld>
</p:sld>
</file>

<file path=ppt/theme/theme1.xml><?xml version="1.0" encoding="utf-8"?>
<a:theme xmlns:a="http://schemas.openxmlformats.org/drawingml/2006/main" name="ChatGPT">
  <a:themeElements>
    <a:clrScheme name="BIBER Technical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IBER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2026-08-31T04:39:52.9300000Z</dcterms:created>
  <dcterms:modified xsi:type="dcterms:W3CDTF">2026-08-31T04:39:52.9300000Z</dcterms:modified>
</coreProperties>
</file>